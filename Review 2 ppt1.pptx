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1"/>
  </p:sldMasterIdLst>
  <p:notesMasterIdLst>
    <p:notesMasterId r:id="rId26"/>
  </p:notesMasterIdLst>
  <p:sldIdLst>
    <p:sldId id="258" r:id="rId2"/>
    <p:sldId id="259" r:id="rId3"/>
    <p:sldId id="260" r:id="rId4"/>
    <p:sldId id="261" r:id="rId5"/>
    <p:sldId id="262" r:id="rId6"/>
    <p:sldId id="263" r:id="rId7"/>
    <p:sldId id="264" r:id="rId8"/>
    <p:sldId id="267" r:id="rId9"/>
    <p:sldId id="268" r:id="rId10"/>
    <p:sldId id="279" r:id="rId11"/>
    <p:sldId id="269" r:id="rId12"/>
    <p:sldId id="299" r:id="rId13"/>
    <p:sldId id="271" r:id="rId14"/>
    <p:sldId id="297" r:id="rId15"/>
    <p:sldId id="282" r:id="rId16"/>
    <p:sldId id="280" r:id="rId17"/>
    <p:sldId id="284" r:id="rId18"/>
    <p:sldId id="285" r:id="rId19"/>
    <p:sldId id="286" r:id="rId20"/>
    <p:sldId id="294" r:id="rId21"/>
    <p:sldId id="298" r:id="rId22"/>
    <p:sldId id="272" r:id="rId23"/>
    <p:sldId id="274" r:id="rId24"/>
    <p:sldId id="29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2245" autoAdjust="0"/>
  </p:normalViewPr>
  <p:slideViewPr>
    <p:cSldViewPr snapToGrid="0" showGuides="1">
      <p:cViewPr varScale="1">
        <p:scale>
          <a:sx n="88" d="100"/>
          <a:sy n="88" d="100"/>
        </p:scale>
        <p:origin x="158" y="422"/>
      </p:cViewPr>
      <p:guideLst>
        <p:guide orient="horz" pos="2160"/>
        <p:guide pos="3817"/>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BA55DA-2650-4C72-816F-8B7C1D3F287B}" type="datetimeFigureOut">
              <a:rPr lang="en-IN" smtClean="0"/>
              <a:pPr/>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1B2DE-A808-4293-8BD0-9F8FBC93D81F}" type="slidenum">
              <a:rPr lang="en-IN" smtClean="0"/>
              <a:pPr/>
              <a:t>‹#›</a:t>
            </a:fld>
            <a:endParaRPr lang="en-IN"/>
          </a:p>
        </p:txBody>
      </p:sp>
    </p:spTree>
    <p:extLst>
      <p:ext uri="{BB962C8B-B14F-4D97-AF65-F5344CB8AC3E}">
        <p14:creationId xmlns:p14="http://schemas.microsoft.com/office/powerpoint/2010/main" val="3590128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1B2DE-A808-4293-8BD0-9F8FBC93D81F}" type="slidenum">
              <a:rPr lang="en-IN" smtClean="0"/>
              <a:pPr/>
              <a:t>1</a:t>
            </a:fld>
            <a:endParaRPr lang="en-IN"/>
          </a:p>
        </p:txBody>
      </p:sp>
    </p:spTree>
    <p:extLst>
      <p:ext uri="{BB962C8B-B14F-4D97-AF65-F5344CB8AC3E}">
        <p14:creationId xmlns:p14="http://schemas.microsoft.com/office/powerpoint/2010/main" val="3329394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1B2DE-A808-4293-8BD0-9F8FBC93D81F}" type="slidenum">
              <a:rPr lang="en-IN" smtClean="0"/>
              <a:pPr/>
              <a:t>5</a:t>
            </a:fld>
            <a:endParaRPr lang="en-IN"/>
          </a:p>
        </p:txBody>
      </p:sp>
    </p:spTree>
    <p:extLst>
      <p:ext uri="{BB962C8B-B14F-4D97-AF65-F5344CB8AC3E}">
        <p14:creationId xmlns:p14="http://schemas.microsoft.com/office/powerpoint/2010/main" val="1044282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861B2DE-A808-4293-8BD0-9F8FBC93D81F}" type="slidenum">
              <a:rPr lang="en-IN" smtClean="0"/>
              <a:pPr/>
              <a:t>6</a:t>
            </a:fld>
            <a:endParaRPr lang="en-IN"/>
          </a:p>
        </p:txBody>
      </p:sp>
    </p:spTree>
    <p:extLst>
      <p:ext uri="{BB962C8B-B14F-4D97-AF65-F5344CB8AC3E}">
        <p14:creationId xmlns:p14="http://schemas.microsoft.com/office/powerpoint/2010/main" val="41415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1B2DE-A808-4293-8BD0-9F8FBC93D81F}" type="slidenum">
              <a:rPr lang="en-IN" smtClean="0"/>
              <a:pPr/>
              <a:t>7</a:t>
            </a:fld>
            <a:endParaRPr lang="en-IN"/>
          </a:p>
        </p:txBody>
      </p:sp>
    </p:spTree>
    <p:extLst>
      <p:ext uri="{BB962C8B-B14F-4D97-AF65-F5344CB8AC3E}">
        <p14:creationId xmlns:p14="http://schemas.microsoft.com/office/powerpoint/2010/main" val="1264530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628417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5459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2460900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71893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368945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07827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2174259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72929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3173908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337093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51785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97503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17745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474989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2282524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DDA01E-BB27-415C-9F04-65502F7FF913}" type="datetimeFigureOut">
              <a:rPr lang="en-IN" smtClean="0"/>
              <a:pPr/>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5CF1C-34A6-4C66-AF2A-498717614D3C}" type="slidenum">
              <a:rPr lang="en-IN" smtClean="0"/>
              <a:pPr/>
              <a:t>‹#›</a:t>
            </a:fld>
            <a:endParaRPr lang="en-IN"/>
          </a:p>
        </p:txBody>
      </p:sp>
    </p:spTree>
    <p:extLst>
      <p:ext uri="{BB962C8B-B14F-4D97-AF65-F5344CB8AC3E}">
        <p14:creationId xmlns:p14="http://schemas.microsoft.com/office/powerpoint/2010/main" val="1696376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DDA01E-BB27-415C-9F04-65502F7FF913}" type="datetimeFigureOut">
              <a:rPr lang="en-IN" smtClean="0"/>
              <a:pPr/>
              <a:t>31-03-2026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2A5CF1C-34A6-4C66-AF2A-498717614D3C}" type="slidenum">
              <a:rPr lang="en-IN" smtClean="0"/>
              <a:pPr/>
              <a:t>‹#›</a:t>
            </a:fld>
            <a:endParaRPr lang="en-IN"/>
          </a:p>
        </p:txBody>
      </p:sp>
    </p:spTree>
    <p:extLst>
      <p:ext uri="{BB962C8B-B14F-4D97-AF65-F5344CB8AC3E}">
        <p14:creationId xmlns:p14="http://schemas.microsoft.com/office/powerpoint/2010/main" val="2908806572"/>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74B6BD-0C1C-F33F-7C72-002AE552E7B3}"/>
              </a:ext>
            </a:extLst>
          </p:cNvPr>
          <p:cNvSpPr txBox="1"/>
          <p:nvPr/>
        </p:nvSpPr>
        <p:spPr>
          <a:xfrm>
            <a:off x="168728" y="20548"/>
            <a:ext cx="11854544" cy="7238713"/>
          </a:xfrm>
          <a:prstGeom prst="rect">
            <a:avLst/>
          </a:prstGeom>
          <a:noFill/>
        </p:spPr>
        <p:txBody>
          <a:bodyPr wrap="square">
            <a:spAutoFit/>
          </a:bodyPr>
          <a:lstStyle/>
          <a:p>
            <a:pPr algn="ctr">
              <a:lnSpc>
                <a:spcPct val="150000"/>
              </a:lnSpc>
            </a:pPr>
            <a:r>
              <a:rPr lang="en-US" sz="2800" b="1" dirty="0">
                <a:solidFill>
                  <a:schemeClr val="accent5"/>
                </a:solidFill>
                <a:latin typeface="Times New Roman" panose="02020603050405020304" pitchFamily="18" charset="0"/>
                <a:ea typeface="Calibri" panose="020F0502020204030204" pitchFamily="34" charset="0"/>
                <a:cs typeface="Times New Roman" panose="02020603050405020304" pitchFamily="18" charset="0"/>
              </a:rPr>
              <a:t>SANTHIRAM ENGINEERING COLLEGE</a:t>
            </a:r>
          </a:p>
          <a:p>
            <a:pPr algn="ctr">
              <a:lnSpc>
                <a:spcPct val="150000"/>
              </a:lnSpc>
            </a:pPr>
            <a:r>
              <a:rPr lang="en-US"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(AUTONOMOUS)</a:t>
            </a:r>
          </a:p>
          <a:p>
            <a:pPr algn="ctr">
              <a:lnSpc>
                <a:spcPct val="150000"/>
              </a:lnSpc>
            </a:pPr>
            <a:endParaRPr lang="en-US"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sz="2400"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r>
              <a:rPr lang="en-US" sz="24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INTELLIGENT INDOOR AIR QUALITY (IAQ) MONITORING AND FORECASTING SYSTEM</a:t>
            </a:r>
          </a:p>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By:-Batch No:7</a:t>
            </a:r>
          </a:p>
          <a:p>
            <a:pPr algn="just">
              <a:lnSpc>
                <a:spcPct val="150000"/>
              </a:lnSpc>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Under the guidance of</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 Vijaya Mary (22X51A05E7) </a:t>
            </a:r>
          </a:p>
          <a:p>
            <a:pPr algn="just">
              <a:lnSpc>
                <a:spcPct val="150000"/>
              </a:lnSpc>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2"/>
                </a:solidFill>
                <a:latin typeface="Times New Roman" panose="02020603050405020304" pitchFamily="18" charset="0"/>
                <a:ea typeface="Calibri" panose="020F0502020204030204" pitchFamily="34" charset="0"/>
                <a:cs typeface="Times New Roman" panose="02020603050405020304" pitchFamily="18" charset="0"/>
              </a:rPr>
              <a:t>S.Nazia</a:t>
            </a: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Banu ,</a:t>
            </a:r>
            <a:r>
              <a:rPr lang="en-US" sz="1400" dirty="0" err="1">
                <a:solidFill>
                  <a:schemeClr val="tx2"/>
                </a:solidFill>
                <a:latin typeface="Times New Roman" panose="02020603050405020304" pitchFamily="18" charset="0"/>
                <a:ea typeface="Calibri" panose="020F0502020204030204" pitchFamily="34" charset="0"/>
                <a:cs typeface="Times New Roman" panose="02020603050405020304" pitchFamily="18" charset="0"/>
              </a:rPr>
              <a:t>M.sc</a:t>
            </a:r>
            <a:r>
              <a:rPr lang="en-US" sz="2000" dirty="0" err="1">
                <a:solidFill>
                  <a:schemeClr val="tx2"/>
                </a:solidFill>
                <a:latin typeface="Times New Roman" panose="02020603050405020304" pitchFamily="18" charset="0"/>
                <a:ea typeface="Calibri" panose="020F0502020204030204" pitchFamily="34" charset="0"/>
                <a:cs typeface="Times New Roman" panose="02020603050405020304" pitchFamily="18" charset="0"/>
              </a:rPr>
              <a:t>,</a:t>
            </a:r>
            <a:r>
              <a:rPr lang="en-US" sz="1400" dirty="0" err="1">
                <a:solidFill>
                  <a:schemeClr val="tx2"/>
                </a:solidFill>
                <a:latin typeface="Times New Roman" panose="02020603050405020304" pitchFamily="18" charset="0"/>
                <a:ea typeface="Calibri" panose="020F0502020204030204" pitchFamily="34" charset="0"/>
                <a:cs typeface="Times New Roman" panose="02020603050405020304" pitchFamily="18" charset="0"/>
              </a:rPr>
              <a:t>M.Tech</a:t>
            </a:r>
            <a:r>
              <a:rPr lang="en-US" sz="1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U. Hemalatha</a:t>
            </a:r>
            <a:r>
              <a:rPr lang="en-US" sz="2000" dirty="0">
                <a:latin typeface="Times New Roman" panose="02020603050405020304" pitchFamily="18" charset="0"/>
                <a:ea typeface="Calibri" panose="020F0502020204030204" pitchFamily="34" charset="0"/>
                <a:cs typeface="Times New Roman" panose="02020603050405020304" pitchFamily="18" charset="0"/>
              </a:rPr>
              <a:t> (22X51A05E9) </a:t>
            </a:r>
            <a:endPar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Assistant Professor                                                                                               P. Swathi</a:t>
            </a:r>
            <a:r>
              <a:rPr lang="en-US" sz="2000" dirty="0">
                <a:latin typeface="Times New Roman" panose="02020603050405020304" pitchFamily="18" charset="0"/>
                <a:ea typeface="Calibri" panose="020F0502020204030204" pitchFamily="34" charset="0"/>
                <a:cs typeface="Times New Roman" panose="02020603050405020304" pitchFamily="18" charset="0"/>
              </a:rPr>
              <a:t> (22X51A05G2) </a:t>
            </a:r>
            <a:endPar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K. Suvarsha</a:t>
            </a:r>
            <a:r>
              <a:rPr lang="en-US" sz="2000" dirty="0">
                <a:latin typeface="Times New Roman" panose="02020603050405020304" pitchFamily="18" charset="0"/>
                <a:ea typeface="Calibri" panose="020F0502020204030204" pitchFamily="34" charset="0"/>
                <a:cs typeface="Times New Roman" panose="02020603050405020304" pitchFamily="18" charset="0"/>
              </a:rPr>
              <a:t> (23X51A0505)</a:t>
            </a:r>
          </a:p>
          <a:p>
            <a:pPr algn="just">
              <a:lnSpc>
                <a:spcPct val="150000"/>
              </a:lnSpc>
            </a:pPr>
            <a:r>
              <a:rPr lang="en-US" sz="2000" dirty="0">
                <a:latin typeface="Times New Roman" panose="02020603050405020304" pitchFamily="18" charset="0"/>
                <a:ea typeface="Calibri" panose="020F0502020204030204" pitchFamily="34" charset="0"/>
                <a:cs typeface="Times New Roman" panose="02020603050405020304" pitchFamily="18" charset="0"/>
              </a:rPr>
              <a:t>                                                                                                                                     V. Malleswari(22X51A05F2) </a:t>
            </a:r>
            <a:endPar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chemeClr val="tx2"/>
              </a:solidFill>
            </a:endParaRPr>
          </a:p>
        </p:txBody>
      </p:sp>
      <p:pic>
        <p:nvPicPr>
          <p:cNvPr id="4" name="Picture 3" descr="C:\Users\HP\Downloads\SREC Logo.jpeg"/>
          <p:cNvPicPr/>
          <p:nvPr/>
        </p:nvPicPr>
        <p:blipFill>
          <a:blip r:embed="rId3" cstate="print"/>
          <a:srcRect/>
          <a:stretch>
            <a:fillRect/>
          </a:stretch>
        </p:blipFill>
        <p:spPr bwMode="auto">
          <a:xfrm>
            <a:off x="4800600" y="1500064"/>
            <a:ext cx="1895115" cy="1547936"/>
          </a:xfrm>
          <a:prstGeom prst="rect">
            <a:avLst/>
          </a:prstGeom>
          <a:noFill/>
          <a:ln w="9525">
            <a:noFill/>
            <a:miter lim="800000"/>
            <a:headEnd/>
            <a:tailEnd/>
          </a:ln>
        </p:spPr>
      </p:pic>
    </p:spTree>
    <p:extLst>
      <p:ext uri="{BB962C8B-B14F-4D97-AF65-F5344CB8AC3E}">
        <p14:creationId xmlns:p14="http://schemas.microsoft.com/office/powerpoint/2010/main" val="761509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EB3BAC-129B-A9FE-09B8-F70715614F70}"/>
              </a:ext>
            </a:extLst>
          </p:cNvPr>
          <p:cNvSpPr txBox="1"/>
          <p:nvPr/>
        </p:nvSpPr>
        <p:spPr>
          <a:xfrm>
            <a:off x="3048000" y="208547"/>
            <a:ext cx="6096000"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INDEX</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48DB7D5-C0EA-8294-C09D-7929B700C290}"/>
              </a:ext>
            </a:extLst>
          </p:cNvPr>
          <p:cNvSpPr txBox="1"/>
          <p:nvPr/>
        </p:nvSpPr>
        <p:spPr>
          <a:xfrm>
            <a:off x="561474" y="882316"/>
            <a:ext cx="8582526" cy="6509474"/>
          </a:xfrm>
          <a:prstGeom prst="rect">
            <a:avLst/>
          </a:prstGeom>
          <a:noFill/>
        </p:spPr>
        <p:txBody>
          <a:bodyPr wrap="square">
            <a:spAutoFit/>
          </a:bodyPr>
          <a:lstStyle/>
          <a:p>
            <a:pPr marL="571500" indent="-57150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ABSTRACT</a:t>
            </a: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OBJECTIVE </a:t>
            </a:r>
            <a:endParaRPr lang="en-US" sz="2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INTRODUCTION</a:t>
            </a:r>
          </a:p>
          <a:p>
            <a:pPr marL="571500" indent="-57150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EXISTING SYSTEM</a:t>
            </a:r>
          </a:p>
          <a:p>
            <a:pPr marL="571500" indent="-57150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DISADVANTAGES</a:t>
            </a:r>
          </a:p>
          <a:p>
            <a:pPr marL="571500" indent="-57150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PROPOSED SYSTEM</a:t>
            </a: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ARCHITECTURE</a:t>
            </a:r>
          </a:p>
          <a:p>
            <a:pPr marL="571500" indent="-571500" algn="just">
              <a:lnSpc>
                <a:spcPct val="150000"/>
              </a:lnSpc>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HARDWARE AND SOFTWARE REQUIREMENTS</a:t>
            </a:r>
            <a:endParaRPr lang="en-IN" altLang="en-US" sz="2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MODULES </a:t>
            </a: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ADVANTAGES </a:t>
            </a:r>
          </a:p>
          <a:p>
            <a:pPr marL="571500" indent="-571500" algn="just">
              <a:lnSpc>
                <a:spcPct val="150000"/>
              </a:lnSpc>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TESTING</a:t>
            </a:r>
            <a:endParaRPr lang="en-IN" altLang="en-US" sz="2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CONCLUSION </a:t>
            </a:r>
          </a:p>
          <a:p>
            <a:pPr marL="571500" indent="-571500" algn="just">
              <a:lnSpc>
                <a:spcPct val="150000"/>
              </a:lnSpc>
              <a:buFont typeface="Wingdings" panose="05000000000000000000" pitchFamily="2" charset="2"/>
              <a:buChar char="Ø"/>
            </a:pPr>
            <a:r>
              <a:rPr lang="en-IN" altLang="en-US" sz="2000" dirty="0">
                <a:solidFill>
                  <a:schemeClr val="tx1"/>
                </a:solidFill>
                <a:latin typeface="Times New Roman" panose="02020603050405020304" pitchFamily="18" charset="0"/>
                <a:cs typeface="Times New Roman" panose="02020603050405020304" pitchFamily="18" charset="0"/>
              </a:rPr>
              <a:t>FUTURE SCOPE</a:t>
            </a:r>
          </a:p>
          <a:p>
            <a:pPr algn="just">
              <a:lnSpc>
                <a:spcPct val="150000"/>
              </a:lnSpc>
            </a:pPr>
            <a:endParaRPr lang="en-IN" dirty="0"/>
          </a:p>
        </p:txBody>
      </p:sp>
    </p:spTree>
    <p:extLst>
      <p:ext uri="{BB962C8B-B14F-4D97-AF65-F5344CB8AC3E}">
        <p14:creationId xmlns:p14="http://schemas.microsoft.com/office/powerpoint/2010/main" val="1688018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2F2DF-0791-12CD-BE69-7B5A93DFB9A1}"/>
              </a:ext>
            </a:extLst>
          </p:cNvPr>
          <p:cNvSpPr txBox="1"/>
          <p:nvPr/>
        </p:nvSpPr>
        <p:spPr>
          <a:xfrm>
            <a:off x="2823411" y="176463"/>
            <a:ext cx="6332620" cy="535531"/>
          </a:xfrm>
          <a:prstGeom prst="rect">
            <a:avLst/>
          </a:prstGeom>
          <a:noFill/>
        </p:spPr>
        <p:txBody>
          <a:bodyPr wrap="square">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abstract</a:t>
            </a:r>
            <a:endParaRPr kumimoji="0" lang="en-IN" sz="3200" b="1" i="0" u="none" strike="noStrike" kern="1200" cap="all"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5" name="TextBox 4">
            <a:extLst>
              <a:ext uri="{FF2B5EF4-FFF2-40B4-BE49-F238E27FC236}">
                <a16:creationId xmlns:a16="http://schemas.microsoft.com/office/drawing/2014/main" id="{E9513D44-AE1D-6541-E801-D0EA3C01044A}"/>
              </a:ext>
            </a:extLst>
          </p:cNvPr>
          <p:cNvSpPr txBox="1"/>
          <p:nvPr/>
        </p:nvSpPr>
        <p:spPr>
          <a:xfrm>
            <a:off x="352926" y="1079653"/>
            <a:ext cx="8803105" cy="5012719"/>
          </a:xfrm>
          <a:prstGeom prst="rect">
            <a:avLst/>
          </a:prstGeom>
          <a:noFill/>
        </p:spPr>
        <p:txBody>
          <a:bodyPr wrap="square">
            <a:spAutoFit/>
          </a:bodyPr>
          <a:lstStyle/>
          <a:p>
            <a:pPr algn="just">
              <a:lnSpc>
                <a:spcPct val="150000"/>
              </a:lnSpc>
              <a:spcBef>
                <a:spcPts val="1400"/>
              </a:spcBef>
              <a:spcAft>
                <a:spcPts val="1400"/>
              </a:spcAft>
              <a:buNone/>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Indoor Air Quality (IAQ) has emerged as a crucial determinant of health and cognitive performance, especially in enclosed public spaces like hospitals and academic institutions. This project presents an intelligent IAQ monitoring and forecasting system that combines IoT-based environmental sensing, complex event processing (CEP), and advanced machine learning techniques. The system captures real-time measurements of pollutants such as carbon dioxide (CO₂), particulate matter (PM2.5), and total volatile organic compounds (TVOCs), along with temperature and humidity, using custom-built IoT sensor units installed across university lecture rooms.</a:t>
            </a:r>
          </a:p>
          <a:p>
            <a:pPr algn="just">
              <a:lnSpc>
                <a:spcPct val="150000"/>
              </a:lnSpc>
              <a:spcBef>
                <a:spcPts val="1400"/>
              </a:spcBef>
              <a:spcAft>
                <a:spcPts val="1400"/>
              </a:spcAft>
              <a:buNone/>
            </a:pPr>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00391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6210DA-CFA7-61D8-7620-EC0BCD07BC97}"/>
              </a:ext>
            </a:extLst>
          </p:cNvPr>
          <p:cNvSpPr txBox="1"/>
          <p:nvPr/>
        </p:nvSpPr>
        <p:spPr>
          <a:xfrm>
            <a:off x="2662989" y="240632"/>
            <a:ext cx="6364705"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OBJECTIVE</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1D7508A-E98F-D2CA-2230-9E3954602059}"/>
              </a:ext>
            </a:extLst>
          </p:cNvPr>
          <p:cNvSpPr>
            <a:spLocks noChangeArrowheads="1"/>
          </p:cNvSpPr>
          <p:nvPr/>
        </p:nvSpPr>
        <p:spPr bwMode="auto">
          <a:xfrm>
            <a:off x="234881" y="1393969"/>
            <a:ext cx="11957119"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defTabSz="914400" eaLnBrk="0" fontAlgn="base" hangingPunct="0">
              <a:lnSpc>
                <a:spcPct val="150000"/>
              </a:lnSpc>
              <a:spcBef>
                <a:spcPct val="0"/>
              </a:spcBef>
              <a:spcAft>
                <a:spcPct val="0"/>
              </a:spcAft>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indoor air quality monitoring using IoT sensors to measure temperature, humidity, CO2, PM2.5,and </a:t>
            </a:r>
          </a:p>
          <a:p>
            <a:pPr defTabSz="914400"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TVOCs.</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and accurate data collection through custom-built sensor de</a:t>
            </a:r>
            <a:r>
              <a:rPr lang="en-US" altLang="en-US" sz="2000" dirty="0">
                <a:latin typeface="Times New Roman" panose="02020603050405020304" pitchFamily="18" charset="0"/>
                <a:cs typeface="Times New Roman" panose="02020603050405020304" pitchFamily="18" charset="0"/>
              </a:rPr>
              <a:t>vices in enclosed environments.</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of regression techniques to predict Air Quality Level (AQL) as a continuous value.</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Use of classification models to categorize air quality into levels such as Good, Moderate, or Unhealthy.</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of advanced models like LSTM, Decision Trees, and Random Forests for forecasting and </a:t>
            </a:r>
            <a:endParaRPr lang="en-US" altLang="en-US" sz="2000" dirty="0">
              <a:latin typeface="Times New Roman" panose="02020603050405020304" pitchFamily="18" charset="0"/>
              <a:cs typeface="Times New Roman" panose="02020603050405020304" pitchFamily="18" charset="0"/>
            </a:endParaRPr>
          </a:p>
          <a:p>
            <a:pPr defTabSz="91440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accuracy.</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Generation of real-time alerts and automated control of ventilation systems to maintain </a:t>
            </a:r>
            <a:r>
              <a:rPr lang="en-US" altLang="en-US" sz="2000" dirty="0" err="1">
                <a:latin typeface="Times New Roman" panose="02020603050405020304" pitchFamily="18" charset="0"/>
                <a:cs typeface="Times New Roman" panose="02020603050405020304" pitchFamily="18" charset="0"/>
              </a:rPr>
              <a:t>sefe</a:t>
            </a:r>
            <a:r>
              <a:rPr lang="en-US" altLang="en-US" sz="2000" dirty="0">
                <a:latin typeface="Times New Roman" panose="02020603050405020304" pitchFamily="18" charset="0"/>
                <a:cs typeface="Times New Roman" panose="02020603050405020304" pitchFamily="18" charset="0"/>
              </a:rPr>
              <a:t> and healthy indoor </a:t>
            </a:r>
          </a:p>
          <a:p>
            <a:pPr defTabSz="91440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a:t>
            </a:r>
            <a:r>
              <a:rPr lang="en-US" altLang="en-US" sz="2000" dirty="0">
                <a:latin typeface="Times New Roman" panose="02020603050405020304" pitchFamily="18" charset="0"/>
                <a:cs typeface="Times New Roman" panose="02020603050405020304" pitchFamily="18" charset="0"/>
              </a:rPr>
              <a:t>ditions.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758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152208-D396-E17B-393B-24CD7D6DA4DF}"/>
              </a:ext>
            </a:extLst>
          </p:cNvPr>
          <p:cNvSpPr txBox="1"/>
          <p:nvPr/>
        </p:nvSpPr>
        <p:spPr>
          <a:xfrm>
            <a:off x="2855495" y="401053"/>
            <a:ext cx="6300536"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INTRODUCTION</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587404-4795-9F0D-A04F-9A2150447AB7}"/>
              </a:ext>
            </a:extLst>
          </p:cNvPr>
          <p:cNvSpPr txBox="1"/>
          <p:nvPr/>
        </p:nvSpPr>
        <p:spPr>
          <a:xfrm>
            <a:off x="374573" y="1322024"/>
            <a:ext cx="9683828" cy="4653646"/>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IAQ monitoring system uses IoT sensors to collect pollutants (CO2,PM2.5,TVOCs) and environmental data in real time.</a:t>
            </a:r>
          </a:p>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Machine learning models like LSTM are used for time-series forecasting of air quality levels.</a:t>
            </a:r>
          </a:p>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Decision Tree classifiers provide interpretable categorization of air quality conditions.</a:t>
            </a:r>
          </a:p>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Random Forest models enable accurate numerical prediction of air quality metrics.</a:t>
            </a:r>
          </a:p>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Complex Event Processing (CEP) detects anomalies and sudden pollution spikes from streaming data.</a:t>
            </a:r>
          </a:p>
          <a:p>
            <a:pPr marL="342900" indent="-342900"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integrated system supports real-time insights and smart decision–making for healthier indoor environments.</a:t>
            </a:r>
          </a:p>
        </p:txBody>
      </p:sp>
    </p:spTree>
    <p:extLst>
      <p:ext uri="{BB962C8B-B14F-4D97-AF65-F5344CB8AC3E}">
        <p14:creationId xmlns:p14="http://schemas.microsoft.com/office/powerpoint/2010/main" val="2163685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D20F9A-A38A-2E4C-AF79-127EFBCD2122}"/>
              </a:ext>
            </a:extLst>
          </p:cNvPr>
          <p:cNvSpPr txBox="1"/>
          <p:nvPr/>
        </p:nvSpPr>
        <p:spPr>
          <a:xfrm>
            <a:off x="2855495" y="272716"/>
            <a:ext cx="6300536"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EXISTING SYSYTEM</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A994761-1789-B938-2530-96291B68B992}"/>
              </a:ext>
            </a:extLst>
          </p:cNvPr>
          <p:cNvSpPr txBox="1"/>
          <p:nvPr/>
        </p:nvSpPr>
        <p:spPr>
          <a:xfrm>
            <a:off x="385298" y="857491"/>
            <a:ext cx="9375648" cy="498663"/>
          </a:xfrm>
          <a:prstGeom prst="rect">
            <a:avLst/>
          </a:prstGeom>
          <a:noFill/>
        </p:spPr>
        <p:txBody>
          <a:bodyPr wrap="square">
            <a:sp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C4200F8C-51D2-2182-35D9-58546327605C}"/>
              </a:ext>
            </a:extLst>
          </p:cNvPr>
          <p:cNvSpPr>
            <a:spLocks noChangeArrowheads="1"/>
          </p:cNvSpPr>
          <p:nvPr/>
        </p:nvSpPr>
        <p:spPr bwMode="auto">
          <a:xfrm>
            <a:off x="200298" y="-4100782"/>
            <a:ext cx="10873489" cy="10101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systems operate in a reactive manner, responding only after pollution levels exceed </a:t>
            </a: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limits instead of </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preventing issues in advance.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do not support predictive analysis, as they lack AI or machine learning models to forecast </a:t>
            </a:r>
            <a:endParaRPr lang="en-US" altLang="en-US" sz="20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air quality conditions.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alert mechanisms are basic, relying only on fixed threshold values without providing </a:t>
            </a: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or real-time insights.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lack automated anomaly detection, so unusual patterns in air quality data often go unnoticed.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do not classify air quality into meaningful categories such as good, moderate, or poor, making </a:t>
            </a: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decision-making difficult.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cannot dynamically optimize indoor environments, as they do not adjust ventilation or improve </a:t>
            </a: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quality based on real-time data. </a:t>
            </a:r>
          </a:p>
        </p:txBody>
      </p:sp>
    </p:spTree>
    <p:extLst>
      <p:ext uri="{BB962C8B-B14F-4D97-AF65-F5344CB8AC3E}">
        <p14:creationId xmlns:p14="http://schemas.microsoft.com/office/powerpoint/2010/main" val="1382649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E44A69-E062-4B71-25C3-24EEC2BDFC54}"/>
              </a:ext>
            </a:extLst>
          </p:cNvPr>
          <p:cNvSpPr txBox="1"/>
          <p:nvPr/>
        </p:nvSpPr>
        <p:spPr>
          <a:xfrm>
            <a:off x="2687624" y="642830"/>
            <a:ext cx="6043863"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DISADVANTAGES</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502D143-E07B-C940-4B21-BF568B8653C1}"/>
              </a:ext>
            </a:extLst>
          </p:cNvPr>
          <p:cNvSpPr txBox="1"/>
          <p:nvPr/>
        </p:nvSpPr>
        <p:spPr>
          <a:xfrm>
            <a:off x="1082267" y="1727390"/>
            <a:ext cx="9577024" cy="2766398"/>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Reactivity</a:t>
            </a:r>
          </a:p>
          <a:p>
            <a:pPr marL="342900" indent="-342900" algn="l">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Uninterpretability</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buFont typeface="Arial" panose="020B0604020202020204" pitchFamily="34" charset="0"/>
              <a:buChar char="•"/>
            </a:pPr>
            <a:r>
              <a:rPr lang="en-US" sz="2000" dirty="0" err="1">
                <a:solidFill>
                  <a:schemeClr val="tx1"/>
                </a:solidFill>
                <a:latin typeface="Times New Roman" panose="02020603050405020304" pitchFamily="18" charset="0"/>
                <a:cs typeface="Times New Roman" panose="02020603050405020304" pitchFamily="18" charset="0"/>
              </a:rPr>
              <a:t>Nonadaptability</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Inefficiency</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Inflexibility </a:t>
            </a:r>
          </a:p>
          <a:p>
            <a:pPr>
              <a:lnSpc>
                <a:spcPct val="150000"/>
              </a:lnSpc>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503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002267-3E61-CAAB-A6E2-A4C08FFFE149}"/>
              </a:ext>
            </a:extLst>
          </p:cNvPr>
          <p:cNvSpPr txBox="1"/>
          <p:nvPr/>
        </p:nvSpPr>
        <p:spPr>
          <a:xfrm>
            <a:off x="2662989" y="176463"/>
            <a:ext cx="6493042" cy="535531"/>
          </a:xfrm>
          <a:prstGeom prst="rect">
            <a:avLst/>
          </a:prstGeom>
          <a:noFill/>
        </p:spPr>
        <p:txBody>
          <a:bodyPr wrap="square">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PROPOSED SYSYTEM</a:t>
            </a:r>
            <a:endParaRPr kumimoji="0" lang="en-IN" sz="3200" b="1" i="0" u="none" strike="noStrike" kern="1200" cap="all"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5" name="TextBox 4">
            <a:extLst>
              <a:ext uri="{FF2B5EF4-FFF2-40B4-BE49-F238E27FC236}">
                <a16:creationId xmlns:a16="http://schemas.microsoft.com/office/drawing/2014/main" id="{189EFB4B-774A-C3F6-4E2B-F192E729133E}"/>
              </a:ext>
            </a:extLst>
          </p:cNvPr>
          <p:cNvSpPr txBox="1"/>
          <p:nvPr/>
        </p:nvSpPr>
        <p:spPr>
          <a:xfrm>
            <a:off x="571558" y="1122872"/>
            <a:ext cx="8789068" cy="4366388"/>
          </a:xfrm>
          <a:prstGeom prst="rect">
            <a:avLst/>
          </a:prstGeom>
          <a:noFill/>
        </p:spPr>
        <p:txBody>
          <a:bodyPr wrap="square">
            <a:spAutoFit/>
          </a:bodyPr>
          <a:lstStyle/>
          <a:p>
            <a:pPr algn="just">
              <a:lnSpc>
                <a:spcPct val="150000"/>
              </a:lnSpc>
              <a:spcBef>
                <a:spcPts val="500"/>
              </a:spcBef>
              <a:spcAft>
                <a:spcPts val="500"/>
              </a:spcAft>
            </a:pPr>
            <a:r>
              <a:rPr lang="en-IN" dirty="0">
                <a:latin typeface="Times New Roman" panose="02020603050405020304" pitchFamily="18" charset="0"/>
                <a:cs typeface="Times New Roman" panose="02020603050405020304" pitchFamily="18" charset="0"/>
              </a:rPr>
              <a:t>The proposed IAQ monitoring framework introduces an intelligent, AI-driven approach by integrating IoT-based sensor networks, complex event processing (CEP), and machine learning models. Sensor data from CO₂, PM2.5, TVOCs, temperature, and humidity is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using LSTM networks for time-series AQL regression. Simultaneously, Decision Tree Classifier is employed to categorize AQL into interpretable levels. Random Forest provides highly accurate predictions for continuous AQL values. The CEP engine facilitates real-time event detection and abnormal pattern identification. The proposed system not only enhances prediction accuracy and interpretability but also supports proactive decision-making and automated response for maintaining healthy indoor environments.</a:t>
            </a:r>
          </a:p>
          <a:p>
            <a:pPr algn="just">
              <a:lnSpc>
                <a:spcPct val="150000"/>
              </a:lnSpc>
              <a:spcBef>
                <a:spcPts val="500"/>
              </a:spcBef>
              <a:spcAft>
                <a:spcPts val="500"/>
              </a:spcAft>
            </a:pPr>
            <a:endPar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7918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0C71A9-B633-242B-2DB0-9D1DD3F937DC}"/>
              </a:ext>
            </a:extLst>
          </p:cNvPr>
          <p:cNvSpPr txBox="1"/>
          <p:nvPr/>
        </p:nvSpPr>
        <p:spPr>
          <a:xfrm>
            <a:off x="2577704" y="218631"/>
            <a:ext cx="5771147" cy="584775"/>
          </a:xfrm>
          <a:prstGeom prst="rect">
            <a:avLst/>
          </a:prstGeom>
          <a:noFill/>
        </p:spPr>
        <p:txBody>
          <a:bodyPr wrap="square">
            <a:spAutoFit/>
          </a:bodyPr>
          <a:lstStyle/>
          <a:p>
            <a:pPr algn="ctr"/>
            <a:r>
              <a:rPr lang="en-IN" sz="3200" b="1" dirty="0">
                <a:effectLst/>
                <a:latin typeface="Times New Roman" panose="02020603050405020304" pitchFamily="18" charset="0"/>
                <a:ea typeface="Times New Roman" panose="02020603050405020304" pitchFamily="18" charset="0"/>
              </a:rPr>
              <a:t>ARCHITECTURE</a:t>
            </a:r>
            <a:endParaRPr lang="en-IN" sz="3200" dirty="0"/>
          </a:p>
        </p:txBody>
      </p:sp>
      <p:pic>
        <p:nvPicPr>
          <p:cNvPr id="2" name="Picture 1">
            <a:extLst>
              <a:ext uri="{FF2B5EF4-FFF2-40B4-BE49-F238E27FC236}">
                <a16:creationId xmlns:a16="http://schemas.microsoft.com/office/drawing/2014/main" id="{C4297333-46E7-57B5-1B4E-9D12E1B634EF}"/>
              </a:ext>
            </a:extLst>
          </p:cNvPr>
          <p:cNvPicPr>
            <a:picLocks noChangeAspect="1"/>
          </p:cNvPicPr>
          <p:nvPr/>
        </p:nvPicPr>
        <p:blipFill>
          <a:blip r:embed="rId2"/>
          <a:stretch>
            <a:fillRect/>
          </a:stretch>
        </p:blipFill>
        <p:spPr>
          <a:xfrm>
            <a:off x="1770526" y="1118922"/>
            <a:ext cx="7385504" cy="4785490"/>
          </a:xfrm>
          <a:prstGeom prst="rect">
            <a:avLst/>
          </a:prstGeom>
        </p:spPr>
      </p:pic>
    </p:spTree>
    <p:extLst>
      <p:ext uri="{BB962C8B-B14F-4D97-AF65-F5344CB8AC3E}">
        <p14:creationId xmlns:p14="http://schemas.microsoft.com/office/powerpoint/2010/main" val="1378082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9924FB-9EC2-C8B2-885C-D927A56DF4FE}"/>
              </a:ext>
            </a:extLst>
          </p:cNvPr>
          <p:cNvSpPr txBox="1"/>
          <p:nvPr/>
        </p:nvSpPr>
        <p:spPr>
          <a:xfrm>
            <a:off x="312516" y="-432754"/>
            <a:ext cx="11879483" cy="6982937"/>
          </a:xfrm>
          <a:prstGeom prst="rect">
            <a:avLst/>
          </a:prstGeom>
          <a:noFill/>
        </p:spPr>
        <p:txBody>
          <a:bodyPr wrap="square">
            <a:spAutoFit/>
          </a:bodyPr>
          <a:lstStyle/>
          <a:p>
            <a:pPr marR="278765" algn="just">
              <a:lnSpc>
                <a:spcPct val="150000"/>
              </a:lnSpc>
              <a:spcBef>
                <a:spcPts val="300"/>
              </a:spcBef>
              <a:spcAft>
                <a:spcPts val="0"/>
              </a:spcAft>
            </a:pPr>
            <a:endParaRPr lang="en-IN" sz="2000" b="1" dirty="0">
              <a:effectLst/>
              <a:latin typeface="Times New Roman" panose="02020603050405020304" pitchFamily="18" charset="0"/>
              <a:ea typeface="Times New Roman" panose="02020603050405020304" pitchFamily="18" charset="0"/>
            </a:endParaRPr>
          </a:p>
          <a:p>
            <a:pPr marR="278765" algn="just">
              <a:lnSpc>
                <a:spcPct val="150000"/>
              </a:lnSpc>
              <a:spcBef>
                <a:spcPts val="300"/>
              </a:spcBef>
            </a:pPr>
            <a:r>
              <a:rPr lang="en-IN" sz="2000" b="1" dirty="0">
                <a:effectLst/>
                <a:latin typeface="Times New Roman" panose="02020603050405020304" pitchFamily="18" charset="0"/>
                <a:ea typeface="Times New Roman" panose="02020603050405020304" pitchFamily="18" charset="0"/>
              </a:rPr>
              <a:t> SOFTWARE REQUIREMENTS &amp; </a:t>
            </a:r>
            <a:r>
              <a:rPr lang="en-US" sz="2000" b="1" dirty="0"/>
              <a:t>HARDWARE REQUIREMENTS</a:t>
            </a:r>
            <a:endParaRPr lang="en-IN" sz="2000" b="1" dirty="0"/>
          </a:p>
          <a:p>
            <a:pPr marR="278765" algn="just">
              <a:lnSpc>
                <a:spcPct val="150000"/>
              </a:lnSpc>
              <a:spcBef>
                <a:spcPts val="300"/>
              </a:spcBef>
              <a:spcAft>
                <a:spcPts val="0"/>
              </a:spcAft>
            </a:pPr>
            <a:endParaRPr lang="en-IN" sz="1600" dirty="0">
              <a:effectLst/>
              <a:latin typeface="Times New Roman" panose="02020603050405020304" pitchFamily="18" charset="0"/>
              <a:ea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SOFTWARE REQUIREMENS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Operating System			:  Windows 7/8/10</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Server side Script			:  HTML, CSS, Bootstrap &amp; JS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Programming Language	:  Python</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Libraries ,Flask, Pandas, Torch, </a:t>
            </a:r>
            <a:r>
              <a:rPr lang="en-US" dirty="0" err="1">
                <a:latin typeface="Times New Roman" panose="02020603050405020304" pitchFamily="18" charset="0"/>
                <a:cs typeface="Times New Roman" panose="02020603050405020304" pitchFamily="18" charset="0"/>
              </a:rPr>
              <a:t>Keras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Sklearn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 Seaborn</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IDE/Workbench			:  </a:t>
            </a:r>
            <a:r>
              <a:rPr lang="en-US" dirty="0" err="1">
                <a:latin typeface="Times New Roman" panose="02020603050405020304" pitchFamily="18" charset="0"/>
                <a:cs typeface="Times New Roman" panose="02020603050405020304" pitchFamily="18" charset="0"/>
              </a:rPr>
              <a:t>VSCode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Server Deployment		:  </a:t>
            </a:r>
            <a:r>
              <a:rPr lang="en-US" dirty="0" err="1">
                <a:latin typeface="Times New Roman" panose="02020603050405020304" pitchFamily="18" charset="0"/>
                <a:cs typeface="Times New Roman" panose="02020603050405020304" pitchFamily="18" charset="0"/>
              </a:rPr>
              <a:t>Xampp</a:t>
            </a:r>
            <a:r>
              <a:rPr lang="en-US" dirty="0">
                <a:latin typeface="Times New Roman" panose="02020603050405020304" pitchFamily="18" charset="0"/>
                <a:cs typeface="Times New Roman" panose="02020603050405020304" pitchFamily="18" charset="0"/>
              </a:rPr>
              <a:t> Server</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Database				:  MySQL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HARDWARE REQUIREMENTS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Processor            	              - I3/Intel Processor</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RAM                                   - 8GB (min)</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Hard Disk                           - 128 GB</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Key Board                          - Standard Windows Keyboard</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Mouse                                - Two or Three Button Mouse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Monitor                              - Any</a:t>
            </a:r>
            <a:endParaRPr lang="en-IN" dirty="0">
              <a:latin typeface="Times New Roman" panose="02020603050405020304" pitchFamily="18" charset="0"/>
              <a:cs typeface="Times New Roman" panose="02020603050405020304" pitchFamily="18" charset="0"/>
            </a:endParaRPr>
          </a:p>
          <a:p>
            <a:pPr marR="278765" lvl="0" algn="just">
              <a:lnSpc>
                <a:spcPct val="150000"/>
              </a:lnSpc>
              <a:spcBef>
                <a:spcPts val="300"/>
              </a:spcBef>
              <a:spcAft>
                <a:spcPts val="0"/>
              </a:spcAft>
            </a:pPr>
            <a:endParaRPr lang="en-IN" sz="1600" dirty="0">
              <a:effectLst/>
              <a:latin typeface="Times New Roman" panose="02020603050405020304" pitchFamily="18" charset="0"/>
              <a:ea typeface="Times New Roman" panose="02020603050405020304" pitchFamily="18" charset="0"/>
            </a:endParaRPr>
          </a:p>
          <a:p>
            <a:pPr marR="278765" algn="just">
              <a:lnSpc>
                <a:spcPct val="150000"/>
              </a:lnSpc>
              <a:spcBef>
                <a:spcPts val="300"/>
              </a:spcBef>
              <a:spcAft>
                <a:spcPts val="0"/>
              </a:spcAft>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45383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D14634-9F3B-802E-0178-716BA39E69DE}"/>
              </a:ext>
            </a:extLst>
          </p:cNvPr>
          <p:cNvSpPr txBox="1"/>
          <p:nvPr/>
        </p:nvSpPr>
        <p:spPr>
          <a:xfrm>
            <a:off x="2910930" y="193078"/>
            <a:ext cx="5883442" cy="615553"/>
          </a:xfrm>
          <a:prstGeom prst="rect">
            <a:avLst/>
          </a:prstGeom>
          <a:noFill/>
        </p:spPr>
        <p:txBody>
          <a:bodyPr wrap="square">
            <a:spAutoFit/>
          </a:bodyPr>
          <a:lstStyle/>
          <a:p>
            <a:pPr algn="ctr"/>
            <a:r>
              <a:rPr lang="en-US" sz="3400" b="1" dirty="0">
                <a:solidFill>
                  <a:srgbClr val="000000"/>
                </a:solidFill>
                <a:effectLst/>
                <a:latin typeface="Times New Roman" panose="02020603050405020304" pitchFamily="18" charset="0"/>
                <a:ea typeface="Times New Roman" panose="02020603050405020304" pitchFamily="18" charset="0"/>
              </a:rPr>
              <a:t>MODULES</a:t>
            </a:r>
            <a:endParaRPr lang="en-IN" sz="3400" dirty="0"/>
          </a:p>
        </p:txBody>
      </p:sp>
      <p:sp>
        <p:nvSpPr>
          <p:cNvPr id="5" name="TextBox 4">
            <a:extLst>
              <a:ext uri="{FF2B5EF4-FFF2-40B4-BE49-F238E27FC236}">
                <a16:creationId xmlns:a16="http://schemas.microsoft.com/office/drawing/2014/main" id="{5B693E1B-3EDC-E198-29E8-DF95C286729A}"/>
              </a:ext>
            </a:extLst>
          </p:cNvPr>
          <p:cNvSpPr txBox="1"/>
          <p:nvPr/>
        </p:nvSpPr>
        <p:spPr>
          <a:xfrm rot="10800000" flipV="1">
            <a:off x="866287" y="1473962"/>
            <a:ext cx="10196247" cy="3508653"/>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System:</a:t>
            </a:r>
          </a:p>
          <a:p>
            <a:endParaRPr lang="en-IN" sz="2000" dirty="0">
              <a:latin typeface="Times New Roman" panose="02020603050405020304" pitchFamily="18" charset="0"/>
              <a:cs typeface="Times New Roman" panose="02020603050405020304" pitchFamily="18" charset="0"/>
            </a:endParaRPr>
          </a:p>
          <a:p>
            <a:pPr marL="342900" indent="-342900">
              <a:buSzPct val="700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Collection</a:t>
            </a:r>
          </a:p>
          <a:p>
            <a:pPr marL="342900" indent="-342900">
              <a:buSzPct val="700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SzPct val="700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Splitting</a:t>
            </a:r>
          </a:p>
          <a:p>
            <a:pPr marL="342900" indent="-342900">
              <a:buSzPct val="700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SzPct val="700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Training</a:t>
            </a:r>
          </a:p>
          <a:p>
            <a:pPr marL="342900" indent="-342900">
              <a:buSzPct val="700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SzPct val="700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Testing</a:t>
            </a:r>
          </a:p>
          <a:p>
            <a:pPr marL="342900" indent="-342900">
              <a:buSzPct val="700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SzPct val="700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Prediction</a:t>
            </a:r>
          </a:p>
        </p:txBody>
      </p:sp>
    </p:spTree>
    <p:extLst>
      <p:ext uri="{BB962C8B-B14F-4D97-AF65-F5344CB8AC3E}">
        <p14:creationId xmlns:p14="http://schemas.microsoft.com/office/powerpoint/2010/main" val="3585457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C0023-2D9D-9489-B905-DA61306E5F12}"/>
              </a:ext>
            </a:extLst>
          </p:cNvPr>
          <p:cNvSpPr>
            <a:spLocks noGrp="1"/>
          </p:cNvSpPr>
          <p:nvPr>
            <p:ph type="title"/>
          </p:nvPr>
        </p:nvSpPr>
        <p:spPr>
          <a:xfrm>
            <a:off x="355117" y="450877"/>
            <a:ext cx="8596668" cy="1320800"/>
          </a:xfrm>
        </p:spPr>
        <p:txBody>
          <a:bodyPr>
            <a:normAutofit fontScale="90000"/>
          </a:bodyPr>
          <a:lstStyle/>
          <a:p>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r>
              <a:rPr lang="en-IN" sz="2400" b="1" dirty="0">
                <a:solidFill>
                  <a:schemeClr val="tx1"/>
                </a:solidFill>
                <a:latin typeface="Times New Roman" panose="02020603050405020304" pitchFamily="18" charset="0"/>
                <a:cs typeface="Times New Roman" panose="02020603050405020304" pitchFamily="18" charset="0"/>
              </a:rPr>
              <a:t>User:</a:t>
            </a:r>
            <a:br>
              <a:rPr lang="en-IN"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19F86A-A07F-F4E1-3C64-1132A271CF02}"/>
              </a:ext>
            </a:extLst>
          </p:cNvPr>
          <p:cNvSpPr>
            <a:spLocks noGrp="1"/>
          </p:cNvSpPr>
          <p:nvPr>
            <p:ph idx="1"/>
          </p:nvPr>
        </p:nvSpPr>
        <p:spPr>
          <a:xfrm>
            <a:off x="590249" y="1838373"/>
            <a:ext cx="8596668" cy="3880773"/>
          </a:xfrm>
        </p:spPr>
        <p:txBody>
          <a:bodyPr>
            <a:normAutofit/>
          </a:bodyPr>
          <a:lstStyle/>
          <a:p>
            <a:pPr>
              <a:buClr>
                <a:schemeClr val="tx1"/>
              </a:buCl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Register</a:t>
            </a:r>
          </a:p>
          <a:p>
            <a:pPr>
              <a:buClr>
                <a:schemeClr val="tx1"/>
              </a:buCl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Login</a:t>
            </a:r>
          </a:p>
          <a:p>
            <a:pPr>
              <a:buClr>
                <a:schemeClr val="tx1"/>
              </a:buCl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Upload Data(Admin/Research Mode)</a:t>
            </a:r>
          </a:p>
          <a:p>
            <a:pPr>
              <a:buClr>
                <a:schemeClr val="tx1"/>
              </a:buCl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Viewing Results</a:t>
            </a:r>
          </a:p>
          <a:p>
            <a:pPr>
              <a:buClr>
                <a:schemeClr val="tx1"/>
              </a:buCl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Logout</a:t>
            </a:r>
          </a:p>
        </p:txBody>
      </p:sp>
    </p:spTree>
    <p:extLst>
      <p:ext uri="{BB962C8B-B14F-4D97-AF65-F5344CB8AC3E}">
        <p14:creationId xmlns:p14="http://schemas.microsoft.com/office/powerpoint/2010/main" val="184864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0498FD-207F-AEEB-241D-A20E7AAA6F8D}"/>
              </a:ext>
            </a:extLst>
          </p:cNvPr>
          <p:cNvSpPr txBox="1"/>
          <p:nvPr/>
        </p:nvSpPr>
        <p:spPr>
          <a:xfrm>
            <a:off x="2651073" y="277299"/>
            <a:ext cx="5947610"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ADVANTAGES</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CD42D33-DB77-0513-5929-6BFAE4708510}"/>
              </a:ext>
            </a:extLst>
          </p:cNvPr>
          <p:cNvSpPr txBox="1"/>
          <p:nvPr/>
        </p:nvSpPr>
        <p:spPr>
          <a:xfrm>
            <a:off x="1135087" y="1381238"/>
            <a:ext cx="8787063" cy="3076291"/>
          </a:xfrm>
          <a:prstGeom prst="rect">
            <a:avLst/>
          </a:prstGeom>
          <a:noFill/>
        </p:spPr>
        <p:txBody>
          <a:bodyPr wrap="square">
            <a:spAutoFit/>
          </a:bodyPr>
          <a:lstStyle/>
          <a:p>
            <a:pPr marL="342900" indent="-342900" algn="just">
              <a:lnSpc>
                <a:spcPct val="200000"/>
              </a:lnSpc>
              <a:buSzPct val="7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Real-Time Monitoring and Event Detection</a:t>
            </a:r>
          </a:p>
          <a:p>
            <a:pPr marL="342900" indent="-342900" algn="just">
              <a:lnSpc>
                <a:spcPct val="200000"/>
              </a:lnSpc>
              <a:buSzPct val="70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Accurate and Robust Predictions</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200000"/>
              </a:lnSpc>
              <a:buSzPct val="7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Enhanced Interpretability</a:t>
            </a:r>
          </a:p>
          <a:p>
            <a:pPr marL="342900" indent="-342900" algn="just">
              <a:lnSpc>
                <a:spcPct val="200000"/>
              </a:lnSpc>
              <a:buSzPct val="70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Automation and Smart Control</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200000"/>
              </a:lnSpc>
              <a:buSzPct val="70000"/>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Scalable and Modular Design</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338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chemeClr val="accent2"/>
                </a:solidFill>
                <a:latin typeface="Times New Roman" panose="02020603050405020304" pitchFamily="18" charset="0"/>
                <a:cs typeface="Times New Roman" panose="02020603050405020304" pitchFamily="18" charset="0"/>
              </a:rPr>
              <a:t>                         </a:t>
            </a:r>
            <a:r>
              <a:rPr lang="en-IN" sz="3200" dirty="0">
                <a:solidFill>
                  <a:schemeClr val="tx1"/>
                </a:solidFill>
                <a:latin typeface="Times New Roman" panose="02020603050405020304" pitchFamily="18" charset="0"/>
                <a:cs typeface="Times New Roman" panose="02020603050405020304" pitchFamily="18" charset="0"/>
              </a:rPr>
              <a:t>TESTING</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786121"/>
            <a:ext cx="8596668" cy="3880773"/>
          </a:xfrm>
        </p:spPr>
        <p:txBody>
          <a:bodyPr/>
          <a:lstStyle/>
          <a:p>
            <a:pPr>
              <a:lnSpc>
                <a:spcPct val="150000"/>
              </a:lnSpc>
              <a:buClr>
                <a:schemeClr val="tx1"/>
              </a:buCl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Unit Testing</a:t>
            </a:r>
          </a:p>
          <a:p>
            <a:pPr>
              <a:lnSpc>
                <a:spcPct val="150000"/>
              </a:lnSpc>
              <a:buClr>
                <a:schemeClr val="tx1"/>
              </a:buCl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Functional Testing</a:t>
            </a:r>
          </a:p>
          <a:p>
            <a:pPr>
              <a:lnSpc>
                <a:spcPct val="150000"/>
              </a:lnSpc>
              <a:buClr>
                <a:schemeClr val="tx1"/>
              </a:buCl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BlackBox Testing</a:t>
            </a:r>
          </a:p>
          <a:p>
            <a:pPr>
              <a:buFont typeface="Arial" panose="020B0604020202020204" pitchFamily="34" charset="0"/>
              <a:buChar char="•"/>
            </a:pPr>
            <a:endParaRPr 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ADD28-9626-5742-A9F5-2DA02F41C577}"/>
              </a:ext>
            </a:extLst>
          </p:cNvPr>
          <p:cNvSpPr txBox="1"/>
          <p:nvPr/>
        </p:nvSpPr>
        <p:spPr>
          <a:xfrm>
            <a:off x="4514248" y="5370897"/>
            <a:ext cx="428324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a:t>
            </a:r>
            <a:r>
              <a:rPr lang="en-IN" sz="1800" dirty="0">
                <a:effectLst/>
                <a:latin typeface="Times New Roman" panose="02020603050405020304" pitchFamily="18" charset="0"/>
                <a:ea typeface="Times New Roman" panose="02020603050405020304" pitchFamily="18" charset="0"/>
              </a:rPr>
              <a:t> Registration Page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98DC59-C58F-3C1E-BEAC-29AFA07212B8}"/>
              </a:ext>
            </a:extLst>
          </p:cNvPr>
          <p:cNvPicPr>
            <a:picLocks noChangeAspect="1"/>
          </p:cNvPicPr>
          <p:nvPr/>
        </p:nvPicPr>
        <p:blipFill>
          <a:blip r:embed="rId2"/>
          <a:stretch>
            <a:fillRect/>
          </a:stretch>
        </p:blipFill>
        <p:spPr>
          <a:xfrm>
            <a:off x="590732" y="937624"/>
            <a:ext cx="9316720" cy="4318000"/>
          </a:xfrm>
          <a:prstGeom prst="rect">
            <a:avLst/>
          </a:prstGeom>
        </p:spPr>
      </p:pic>
      <p:sp>
        <p:nvSpPr>
          <p:cNvPr id="2" name="Title 1">
            <a:extLst>
              <a:ext uri="{FF2B5EF4-FFF2-40B4-BE49-F238E27FC236}">
                <a16:creationId xmlns:a16="http://schemas.microsoft.com/office/drawing/2014/main" id="{DE1D7D5E-67E8-148C-D290-336DC74C9CD3}"/>
              </a:ext>
            </a:extLst>
          </p:cNvPr>
          <p:cNvSpPr>
            <a:spLocks noGrp="1"/>
          </p:cNvSpPr>
          <p:nvPr>
            <p:ph type="title"/>
          </p:nvPr>
        </p:nvSpPr>
        <p:spPr>
          <a:xfrm>
            <a:off x="200822" y="78377"/>
            <a:ext cx="8596668" cy="1320800"/>
          </a:xfrm>
        </p:spPr>
        <p:txBody>
          <a:bodyPr>
            <a:normAutofit/>
          </a:bodyPr>
          <a:lstStyle/>
          <a:p>
            <a:pPr>
              <a:lnSpc>
                <a:spcPct val="150000"/>
              </a:lnSpc>
            </a:pPr>
            <a:r>
              <a:rPr lang="en-IN" sz="2800" dirty="0">
                <a:solidFill>
                  <a:schemeClr val="tx1"/>
                </a:solidFill>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3127712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538BC59-6963-4290-5DC6-2C19727B0292}"/>
              </a:ext>
            </a:extLst>
          </p:cNvPr>
          <p:cNvSpPr txBox="1"/>
          <p:nvPr/>
        </p:nvSpPr>
        <p:spPr>
          <a:xfrm>
            <a:off x="419100" y="546100"/>
            <a:ext cx="9650429" cy="5632311"/>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Fig</a:t>
            </a:r>
            <a:r>
              <a:rPr lang="en-US" dirty="0"/>
              <a:t>:</a:t>
            </a:r>
            <a:r>
              <a:rPr lang="en-IN" dirty="0">
                <a:latin typeface="Times New Roman" panose="02020603050405020304" pitchFamily="18" charset="0"/>
              </a:rPr>
              <a:t>Login </a:t>
            </a:r>
            <a:r>
              <a:rPr lang="en-IN" sz="1800" dirty="0">
                <a:effectLst/>
                <a:latin typeface="Times New Roman" panose="02020603050405020304" pitchFamily="18" charset="0"/>
                <a:ea typeface="Times New Roman" panose="02020603050405020304" pitchFamily="18" charset="0"/>
              </a:rPr>
              <a:t>page  </a:t>
            </a:r>
            <a:endParaRPr lang="en-IN" dirty="0"/>
          </a:p>
        </p:txBody>
      </p:sp>
      <p:pic>
        <p:nvPicPr>
          <p:cNvPr id="5" name="Picture 4">
            <a:extLst>
              <a:ext uri="{FF2B5EF4-FFF2-40B4-BE49-F238E27FC236}">
                <a16:creationId xmlns:a16="http://schemas.microsoft.com/office/drawing/2014/main" id="{748E9DDA-8050-B4F5-7C56-DCFA837FE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23" y="546100"/>
            <a:ext cx="8961120" cy="4940300"/>
          </a:xfrm>
          <a:prstGeom prst="rect">
            <a:avLst/>
          </a:prstGeom>
        </p:spPr>
      </p:pic>
    </p:spTree>
    <p:extLst>
      <p:ext uri="{BB962C8B-B14F-4D97-AF65-F5344CB8AC3E}">
        <p14:creationId xmlns:p14="http://schemas.microsoft.com/office/powerpoint/2010/main" val="2223376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932EB-B5B3-CA44-A86D-58E4E8E0E8E7}"/>
              </a:ext>
            </a:extLst>
          </p:cNvPr>
          <p:cNvSpPr txBox="1"/>
          <p:nvPr/>
        </p:nvSpPr>
        <p:spPr>
          <a:xfrm>
            <a:off x="4073090" y="5447365"/>
            <a:ext cx="5284269" cy="646331"/>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Fig:</a:t>
            </a:r>
            <a:r>
              <a:rPr lang="en-IN" dirty="0">
                <a:latin typeface="Times New Roman" panose="02020603050405020304" pitchFamily="18" charset="0"/>
                <a:cs typeface="Times New Roman" panose="02020603050405020304" pitchFamily="18" charset="0"/>
              </a:rPr>
              <a:t>Home Page</a:t>
            </a:r>
          </a:p>
        </p:txBody>
      </p:sp>
      <p:pic>
        <p:nvPicPr>
          <p:cNvPr id="2" name="Picture 1">
            <a:extLst>
              <a:ext uri="{FF2B5EF4-FFF2-40B4-BE49-F238E27FC236}">
                <a16:creationId xmlns:a16="http://schemas.microsoft.com/office/drawing/2014/main" id="{C738192C-F426-1B06-83B8-6250963D4424}"/>
              </a:ext>
            </a:extLst>
          </p:cNvPr>
          <p:cNvPicPr>
            <a:picLocks noChangeAspect="1"/>
          </p:cNvPicPr>
          <p:nvPr/>
        </p:nvPicPr>
        <p:blipFill>
          <a:blip r:embed="rId2"/>
          <a:stretch>
            <a:fillRect/>
          </a:stretch>
        </p:blipFill>
        <p:spPr>
          <a:xfrm>
            <a:off x="343988" y="556776"/>
            <a:ext cx="9265920" cy="4940663"/>
          </a:xfrm>
          <a:prstGeom prst="rect">
            <a:avLst/>
          </a:prstGeom>
        </p:spPr>
      </p:pic>
    </p:spTree>
    <p:extLst>
      <p:ext uri="{BB962C8B-B14F-4D97-AF65-F5344CB8AC3E}">
        <p14:creationId xmlns:p14="http://schemas.microsoft.com/office/powerpoint/2010/main" val="722558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932EB-B5B3-CA44-A86D-58E4E8E0E8E7}"/>
              </a:ext>
            </a:extLst>
          </p:cNvPr>
          <p:cNvSpPr txBox="1"/>
          <p:nvPr/>
        </p:nvSpPr>
        <p:spPr>
          <a:xfrm>
            <a:off x="88900" y="1143000"/>
            <a:ext cx="8901095" cy="535531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Fig: </a:t>
            </a:r>
            <a:r>
              <a:rPr lang="en-IN" dirty="0">
                <a:latin typeface="Times New Roman" panose="02020603050405020304" pitchFamily="18" charset="0"/>
                <a:cs typeface="Times New Roman" panose="02020603050405020304" pitchFamily="18" charset="0"/>
              </a:rPr>
              <a:t>Uploading Dataset</a:t>
            </a:r>
          </a:p>
        </p:txBody>
      </p:sp>
      <p:sp>
        <p:nvSpPr>
          <p:cNvPr id="2" name="AutoShape 2">
            <a:extLst>
              <a:ext uri="{FF2B5EF4-FFF2-40B4-BE49-F238E27FC236}">
                <a16:creationId xmlns:a16="http://schemas.microsoft.com/office/drawing/2014/main" id="{29949064-C558-1D82-9127-D6021490BA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C95F8428-04EF-7BF3-E0F8-38A5164440D7}"/>
              </a:ext>
            </a:extLst>
          </p:cNvPr>
          <p:cNvSpPr txBox="1"/>
          <p:nvPr/>
        </p:nvSpPr>
        <p:spPr>
          <a:xfrm>
            <a:off x="6248400" y="5971235"/>
            <a:ext cx="184731" cy="369332"/>
          </a:xfrm>
          <a:prstGeom prst="rect">
            <a:avLst/>
          </a:prstGeom>
          <a:noFill/>
        </p:spPr>
        <p:txBody>
          <a:bodyPr wrap="none" rtlCol="0">
            <a:spAutoFit/>
          </a:bodyPr>
          <a:lstStyle/>
          <a:p>
            <a:endParaRPr lang="en-IN" dirty="0"/>
          </a:p>
        </p:txBody>
      </p:sp>
      <p:sp>
        <p:nvSpPr>
          <p:cNvPr id="7" name="AutoShape 6">
            <a:extLst>
              <a:ext uri="{FF2B5EF4-FFF2-40B4-BE49-F238E27FC236}">
                <a16:creationId xmlns:a16="http://schemas.microsoft.com/office/drawing/2014/main" id="{9ED9A4BE-105B-87FA-6F48-1E794966DF8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0BB45129-F77D-12D6-2ED0-5FF76B95F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17434"/>
            <a:ext cx="8686800" cy="5197566"/>
          </a:xfrm>
          <a:prstGeom prst="rect">
            <a:avLst/>
          </a:prstGeom>
        </p:spPr>
      </p:pic>
    </p:spTree>
    <p:extLst>
      <p:ext uri="{BB962C8B-B14F-4D97-AF65-F5344CB8AC3E}">
        <p14:creationId xmlns:p14="http://schemas.microsoft.com/office/powerpoint/2010/main" val="2750695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932EB-B5B3-CA44-A86D-58E4E8E0E8E7}"/>
              </a:ext>
            </a:extLst>
          </p:cNvPr>
          <p:cNvSpPr txBox="1"/>
          <p:nvPr/>
        </p:nvSpPr>
        <p:spPr>
          <a:xfrm>
            <a:off x="1409701" y="698500"/>
            <a:ext cx="7541794" cy="590931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Fig:</a:t>
            </a:r>
            <a:r>
              <a:rPr lang="en-IN" dirty="0">
                <a:latin typeface="Times New Roman" panose="02020603050405020304" pitchFamily="18" charset="0"/>
                <a:cs typeface="Times New Roman" panose="02020603050405020304" pitchFamily="18" charset="0"/>
              </a:rPr>
              <a:t> Uploaded Dataset Successfully</a:t>
            </a:r>
          </a:p>
        </p:txBody>
      </p:sp>
      <p:sp>
        <p:nvSpPr>
          <p:cNvPr id="2" name="AutoShape 2">
            <a:extLst>
              <a:ext uri="{FF2B5EF4-FFF2-40B4-BE49-F238E27FC236}">
                <a16:creationId xmlns:a16="http://schemas.microsoft.com/office/drawing/2014/main" id="{AB5C2CBD-55B1-9939-B6A9-7283395D42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459DC06F-CEF8-F26A-DACA-BEAA0926A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 y="406944"/>
            <a:ext cx="9118600" cy="5436507"/>
          </a:xfrm>
          <a:prstGeom prst="rect">
            <a:avLst/>
          </a:prstGeom>
        </p:spPr>
      </p:pic>
    </p:spTree>
    <p:extLst>
      <p:ext uri="{BB962C8B-B14F-4D97-AF65-F5344CB8AC3E}">
        <p14:creationId xmlns:p14="http://schemas.microsoft.com/office/powerpoint/2010/main" val="804484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3028DC-4BE8-8F5C-2352-8B623FBDFD49}"/>
              </a:ext>
            </a:extLst>
          </p:cNvPr>
          <p:cNvSpPr txBox="1"/>
          <p:nvPr/>
        </p:nvSpPr>
        <p:spPr>
          <a:xfrm>
            <a:off x="375951" y="1282700"/>
            <a:ext cx="8744344" cy="4524315"/>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Fig:</a:t>
            </a:r>
            <a:r>
              <a:rPr lang="en-IN" dirty="0">
                <a:latin typeface="Times New Roman" panose="02020603050405020304" pitchFamily="18" charset="0"/>
                <a:cs typeface="Times New Roman" panose="02020603050405020304" pitchFamily="18" charset="0"/>
              </a:rPr>
              <a:t>Prediction Page</a:t>
            </a:r>
            <a:endParaRPr lang="en-IN" dirty="0"/>
          </a:p>
        </p:txBody>
      </p:sp>
      <p:pic>
        <p:nvPicPr>
          <p:cNvPr id="2" name="Picture 1">
            <a:extLst>
              <a:ext uri="{FF2B5EF4-FFF2-40B4-BE49-F238E27FC236}">
                <a16:creationId xmlns:a16="http://schemas.microsoft.com/office/drawing/2014/main" id="{394720DE-FD4B-3C49-29D1-4ED8CF123B63}"/>
              </a:ext>
            </a:extLst>
          </p:cNvPr>
          <p:cNvPicPr>
            <a:picLocks noChangeAspect="1"/>
          </p:cNvPicPr>
          <p:nvPr/>
        </p:nvPicPr>
        <p:blipFill>
          <a:blip r:embed="rId2"/>
          <a:stretch>
            <a:fillRect/>
          </a:stretch>
        </p:blipFill>
        <p:spPr>
          <a:xfrm>
            <a:off x="505097" y="496987"/>
            <a:ext cx="9022080" cy="5004162"/>
          </a:xfrm>
          <a:prstGeom prst="rect">
            <a:avLst/>
          </a:prstGeom>
        </p:spPr>
      </p:pic>
    </p:spTree>
    <p:extLst>
      <p:ext uri="{BB962C8B-B14F-4D97-AF65-F5344CB8AC3E}">
        <p14:creationId xmlns:p14="http://schemas.microsoft.com/office/powerpoint/2010/main" val="4228522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D3E0B2-ACA1-ED38-C497-DC5FD6B8DD64}"/>
              </a:ext>
            </a:extLst>
          </p:cNvPr>
          <p:cNvSpPr>
            <a:spLocks noGrp="1"/>
          </p:cNvSpPr>
          <p:nvPr>
            <p:ph type="body" idx="1"/>
          </p:nvPr>
        </p:nvSpPr>
        <p:spPr/>
        <p:txBody>
          <a:bodyPr/>
          <a:lstStyle/>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Fig: Result Page</a:t>
            </a:r>
          </a:p>
        </p:txBody>
      </p:sp>
      <p:pic>
        <p:nvPicPr>
          <p:cNvPr id="5" name="Picture 4">
            <a:extLst>
              <a:ext uri="{FF2B5EF4-FFF2-40B4-BE49-F238E27FC236}">
                <a16:creationId xmlns:a16="http://schemas.microsoft.com/office/drawing/2014/main" id="{994472D2-DBC9-E5CB-EF94-7EF029352B37}"/>
              </a:ext>
            </a:extLst>
          </p:cNvPr>
          <p:cNvPicPr>
            <a:picLocks noChangeAspect="1"/>
          </p:cNvPicPr>
          <p:nvPr/>
        </p:nvPicPr>
        <p:blipFill>
          <a:blip r:embed="rId2"/>
          <a:stretch>
            <a:fillRect/>
          </a:stretch>
        </p:blipFill>
        <p:spPr>
          <a:xfrm>
            <a:off x="757645" y="513806"/>
            <a:ext cx="8734697" cy="4606834"/>
          </a:xfrm>
          <a:prstGeom prst="rect">
            <a:avLst/>
          </a:prstGeom>
        </p:spPr>
      </p:pic>
    </p:spTree>
    <p:extLst>
      <p:ext uri="{BB962C8B-B14F-4D97-AF65-F5344CB8AC3E}">
        <p14:creationId xmlns:p14="http://schemas.microsoft.com/office/powerpoint/2010/main" val="1166357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7A6417-9C32-D3E2-2B53-E7DC3DD95235}"/>
              </a:ext>
            </a:extLst>
          </p:cNvPr>
          <p:cNvSpPr txBox="1"/>
          <p:nvPr/>
        </p:nvSpPr>
        <p:spPr>
          <a:xfrm>
            <a:off x="2662989" y="272716"/>
            <a:ext cx="6493042" cy="584775"/>
          </a:xfrm>
          <a:prstGeom prst="rect">
            <a:avLst/>
          </a:prstGeom>
          <a:noFill/>
        </p:spPr>
        <p:txBody>
          <a:bodyPr wrap="square">
            <a:sp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CONCLUSION</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425040F-09DB-145D-0CC1-26A7BA649131}"/>
              </a:ext>
            </a:extLst>
          </p:cNvPr>
          <p:cNvSpPr txBox="1"/>
          <p:nvPr/>
        </p:nvSpPr>
        <p:spPr>
          <a:xfrm>
            <a:off x="452386" y="1101023"/>
            <a:ext cx="9219933" cy="4922951"/>
          </a:xfrm>
          <a:prstGeom prst="rect">
            <a:avLst/>
          </a:prstGeom>
          <a:noFill/>
        </p:spPr>
        <p:txBody>
          <a:bodyPr wrap="square">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The project integrates IoT, Machine Learning, and Complex Event Processing to create an intelligent system for real-time monitoring and forecasting of indoor air quality. It processes environmental data to enable both accurate prediction and classification of air quality levels. LSTM models are used for time-series forecasting, while Decision Trees provide interpretable health risk categorization. Random Forest enhances prediction accuracy, and CEP enables anomaly detection with real-time alerts. Overall, the system supports proactive decision-making and offers a scalable solution for smart buildings and smart city environments.</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563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DF4386-B171-A032-6103-00D7085A137B}"/>
              </a:ext>
            </a:extLst>
          </p:cNvPr>
          <p:cNvSpPr txBox="1"/>
          <p:nvPr/>
        </p:nvSpPr>
        <p:spPr>
          <a:xfrm>
            <a:off x="3889345" y="368969"/>
            <a:ext cx="4253758"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FUTURE SCOPE</a:t>
            </a:r>
          </a:p>
        </p:txBody>
      </p:sp>
      <p:sp>
        <p:nvSpPr>
          <p:cNvPr id="4" name="TextBox 3">
            <a:extLst>
              <a:ext uri="{FF2B5EF4-FFF2-40B4-BE49-F238E27FC236}">
                <a16:creationId xmlns:a16="http://schemas.microsoft.com/office/drawing/2014/main" id="{D3A6AA7C-9C6B-42F1-3D24-2B4F5FDC8FB6}"/>
              </a:ext>
            </a:extLst>
          </p:cNvPr>
          <p:cNvSpPr txBox="1"/>
          <p:nvPr/>
        </p:nvSpPr>
        <p:spPr>
          <a:xfrm>
            <a:off x="396775" y="1145405"/>
            <a:ext cx="9418883" cy="4922951"/>
          </a:xfrm>
          <a:prstGeom prst="rect">
            <a:avLst/>
          </a:prstGeom>
          <a:noFill/>
        </p:spPr>
        <p:txBody>
          <a:bodyPr wrap="square">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The system can be enhanced by integrating additional sensors such as NO₂, O₃, and CO to achieve more comprehensive pollutant monitoring. Deep reinforcement learning can further improve the system by enabling dynamic optimization of ventilation and filtration processes. Expanding deployment across various environments like hospitals, offices, and residential buildings can strengthen its adaptability and robustness. The inclusion of mobile applications and dashboards would allow real-time monitoring, alerts, and better user control. Additionally, integrating with HVAC systems and cloud platforms can support scalable, intelligent, and data-driven building management.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681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5B5D44-AD65-6DD4-5905-8E2863097E2D}"/>
              </a:ext>
            </a:extLst>
          </p:cNvPr>
          <p:cNvSpPr/>
          <p:nvPr/>
        </p:nvSpPr>
        <p:spPr>
          <a:xfrm>
            <a:off x="1651000" y="2527300"/>
            <a:ext cx="7353300" cy="1569660"/>
          </a:xfrm>
          <a:prstGeom prst="rect">
            <a:avLst/>
          </a:prstGeom>
          <a:noFill/>
        </p:spPr>
        <p:txBody>
          <a:bodyPr wrap="square" lIns="91440" tIns="45720" rIns="91440" bIns="45720">
            <a:spAutoFit/>
          </a:bodyPr>
          <a:lstStyle/>
          <a:p>
            <a:pPr algn="ctr"/>
            <a:r>
              <a:rPr lang="en-US" sz="9600" b="1" dirty="0">
                <a:ln w="9525">
                  <a:solidFill>
                    <a:schemeClr val="bg1"/>
                  </a:solidFill>
                  <a:prstDash val="solid"/>
                </a:ln>
                <a:effectLst>
                  <a:outerShdw blurRad="12700" dist="38100" dir="2700000" algn="tl" rotWithShape="0">
                    <a:schemeClr val="bg1">
                      <a:lumMod val="50000"/>
                    </a:schemeClr>
                  </a:outerShdw>
                </a:effectLst>
              </a:rPr>
              <a:t>Thank you</a:t>
            </a:r>
            <a:endParaRPr lang="en-US" sz="9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431233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1633</TotalTime>
  <Words>1121</Words>
  <Application>Microsoft Office PowerPoint</Application>
  <PresentationFormat>Widescreen</PresentationFormat>
  <Paragraphs>228</Paragraphs>
  <Slides>24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User: </vt:lpstr>
      <vt:lpstr>PowerPoint Presentation</vt:lpstr>
      <vt:lpstr>                         TESTING</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Lakshmi Narasimha Maduuru</dc:creator>
  <cp:lastModifiedBy>Vijjy Reddy</cp:lastModifiedBy>
  <cp:revision>70</cp:revision>
  <dcterms:created xsi:type="dcterms:W3CDTF">2024-04-20T08:47:06Z</dcterms:created>
  <dcterms:modified xsi:type="dcterms:W3CDTF">2026-03-31T18:01:03Z</dcterms:modified>
</cp:coreProperties>
</file>